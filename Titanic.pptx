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60" r:id="rId2"/>
    <p:sldId id="257" r:id="rId3"/>
    <p:sldId id="258" r:id="rId4"/>
    <p:sldId id="261" r:id="rId5"/>
    <p:sldId id="262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66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90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04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2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78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95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51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54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04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9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5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FF16AFB-7BBF-43B1-97B7-2157C62AA34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2FBEF1D-946B-4E13-91E5-BAE972A04C0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57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DE4CA4-EC97-5AB4-59AB-4A3605EFBF23}"/>
              </a:ext>
            </a:extLst>
          </p:cNvPr>
          <p:cNvSpPr txBox="1"/>
          <p:nvPr/>
        </p:nvSpPr>
        <p:spPr>
          <a:xfrm>
            <a:off x="603315" y="1652868"/>
            <a:ext cx="1126503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Before diving into charts and models, the goal is to understand:</a:t>
            </a:r>
          </a:p>
          <a:p>
            <a:pPr>
              <a:buNone/>
            </a:pPr>
            <a:r>
              <a:rPr lang="en-US" b="1" dirty="0"/>
              <a:t>What factors truly determined who survived the Titanic disaster?</a:t>
            </a:r>
            <a:endParaRPr lang="en-US" dirty="0"/>
          </a:p>
          <a:p>
            <a:pPr>
              <a:buNone/>
            </a:pPr>
            <a:r>
              <a:rPr lang="en-US" dirty="0"/>
              <a:t>This Exploratory Data Analysis (EDA) of the Titanic Dataset goes far beyond basic counts and percentages.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Our objective is to uncover the </a:t>
            </a:r>
            <a:r>
              <a:rPr lang="en-US" b="1" dirty="0"/>
              <a:t>human patterns behind survival</a:t>
            </a:r>
            <a:r>
              <a:rPr lang="en-US" dirty="0"/>
              <a:t>, influenced by: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Passenger Class (P class)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Gender &amp; Age distribution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Family size and travel type (Solo vs Family)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Fare differences and economic status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Boarding port influence (C/Q/S)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Demographic patterns such as children, the elderly,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Through this study, we aim to identify the </a:t>
            </a:r>
            <a:r>
              <a:rPr lang="en-US" b="1" dirty="0"/>
              <a:t>strongest survival predictors</a:t>
            </a:r>
            <a:r>
              <a:rPr lang="en-US" dirty="0"/>
              <a:t> and understand how social class, demographics, and travel patterns shaped the outcome of this historic tragedy.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F9D6E-1681-C341-4C08-42F61689FFD8}"/>
              </a:ext>
            </a:extLst>
          </p:cNvPr>
          <p:cNvSpPr txBox="1"/>
          <p:nvPr/>
        </p:nvSpPr>
        <p:spPr>
          <a:xfrm>
            <a:off x="367645" y="569478"/>
            <a:ext cx="11340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Project Agenda — Titanic Survival EDA</a:t>
            </a:r>
          </a:p>
        </p:txBody>
      </p:sp>
    </p:spTree>
    <p:extLst>
      <p:ext uri="{BB962C8B-B14F-4D97-AF65-F5344CB8AC3E}">
        <p14:creationId xmlns:p14="http://schemas.microsoft.com/office/powerpoint/2010/main" val="76138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92B37-1CE2-72EA-7C89-AC27B86176E4}"/>
              </a:ext>
            </a:extLst>
          </p:cNvPr>
          <p:cNvSpPr txBox="1"/>
          <p:nvPr/>
        </p:nvSpPr>
        <p:spPr>
          <a:xfrm>
            <a:off x="772998" y="1135112"/>
            <a:ext cx="10416619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Understand the Survival Rate</a:t>
            </a:r>
            <a:br>
              <a:rPr lang="en-US" dirty="0"/>
            </a:br>
            <a:r>
              <a:rPr lang="en-US" dirty="0"/>
              <a:t>– Total survivors vs. non-survivors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Analyze Gender Impact</a:t>
            </a:r>
            <a:br>
              <a:rPr lang="en-US" dirty="0"/>
            </a:br>
            <a:r>
              <a:rPr lang="en-US" dirty="0"/>
              <a:t>– Compare survival between males and females.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Study Class Influence (P class)</a:t>
            </a:r>
            <a:br>
              <a:rPr lang="en-US" dirty="0"/>
            </a:br>
            <a:r>
              <a:rPr lang="en-US" dirty="0"/>
              <a:t>– Identify which class had the highest survival.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Examine Age Effect</a:t>
            </a:r>
            <a:br>
              <a:rPr lang="en-US" dirty="0"/>
            </a:br>
            <a:r>
              <a:rPr lang="en-US" dirty="0"/>
              <a:t>– Check survival patterns among children, adults, and the elderly.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Compare Solo vs. Family Travel</a:t>
            </a:r>
            <a:br>
              <a:rPr lang="en-US" dirty="0"/>
            </a:br>
            <a:r>
              <a:rPr lang="en-US" dirty="0"/>
              <a:t>– See if family groups had better survival chances than solo travelers.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Evaluate Fare Influence</a:t>
            </a:r>
            <a:br>
              <a:rPr lang="en-US" dirty="0"/>
            </a:br>
            <a:r>
              <a:rPr lang="en-US" dirty="0"/>
              <a:t>– Understand if a higher ticket fare relates to higher survival.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89C56-4B91-BD12-75C9-C65C9507BE81}"/>
              </a:ext>
            </a:extLst>
          </p:cNvPr>
          <p:cNvSpPr txBox="1"/>
          <p:nvPr/>
        </p:nvSpPr>
        <p:spPr>
          <a:xfrm>
            <a:off x="188535" y="352661"/>
            <a:ext cx="114064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Analytical Objectives 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60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2192D-F568-8074-C51B-66B450D1E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05" y="1636657"/>
            <a:ext cx="4515480" cy="38486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61139D-7197-F36B-3D6E-996C412DD101}"/>
              </a:ext>
            </a:extLst>
          </p:cNvPr>
          <p:cNvSpPr txBox="1"/>
          <p:nvPr/>
        </p:nvSpPr>
        <p:spPr>
          <a:xfrm>
            <a:off x="197962" y="267820"/>
            <a:ext cx="116609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Age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17AFAD-0390-607E-AC73-47294F3BDD17}"/>
              </a:ext>
            </a:extLst>
          </p:cNvPr>
          <p:cNvSpPr txBox="1"/>
          <p:nvPr/>
        </p:nvSpPr>
        <p:spPr>
          <a:xfrm>
            <a:off x="6440326" y="2544750"/>
            <a:ext cx="5209653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Adults are the largest group on the ship.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Children are much fewer compared to adults.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Seniors are the smallest age group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38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6C36A-0FDC-D907-165E-BAE37E263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97" y="1548033"/>
            <a:ext cx="4420217" cy="45726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36E12E-58B7-56CB-8EA1-64CA3B2CA4DB}"/>
              </a:ext>
            </a:extLst>
          </p:cNvPr>
          <p:cNvSpPr txBox="1"/>
          <p:nvPr/>
        </p:nvSpPr>
        <p:spPr>
          <a:xfrm>
            <a:off x="5978953" y="2583987"/>
            <a:ext cx="609442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1st class shows the highest survival share.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2nd class survival is moderate.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The 3rd class has the lowest survival percentage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FACB2-A238-AD37-32BE-475876FECFB7}"/>
              </a:ext>
            </a:extLst>
          </p:cNvPr>
          <p:cNvSpPr txBox="1"/>
          <p:nvPr/>
        </p:nvSpPr>
        <p:spPr>
          <a:xfrm>
            <a:off x="537328" y="256249"/>
            <a:ext cx="113663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Class-wise Survival Rate</a:t>
            </a:r>
          </a:p>
        </p:txBody>
      </p:sp>
    </p:spTree>
    <p:extLst>
      <p:ext uri="{BB962C8B-B14F-4D97-AF65-F5344CB8AC3E}">
        <p14:creationId xmlns:p14="http://schemas.microsoft.com/office/powerpoint/2010/main" val="85777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57832C-D396-9414-942D-6FFF700A2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19" y="1836896"/>
            <a:ext cx="5191651" cy="40548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06518-2645-A3A9-FE50-F35D1F3C69F6}"/>
              </a:ext>
            </a:extLst>
          </p:cNvPr>
          <p:cNvSpPr txBox="1"/>
          <p:nvPr/>
        </p:nvSpPr>
        <p:spPr>
          <a:xfrm>
            <a:off x="6231117" y="2686152"/>
            <a:ext cx="571421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1st class passengers paid the highest fares.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2nd class fares are mid-range.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The 3rd class has the lowest and tightest fare range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CA0A5-8D7D-0E4B-AE3D-C276D02253E3}"/>
              </a:ext>
            </a:extLst>
          </p:cNvPr>
          <p:cNvSpPr txBox="1"/>
          <p:nvPr/>
        </p:nvSpPr>
        <p:spPr>
          <a:xfrm>
            <a:off x="480767" y="332476"/>
            <a:ext cx="109633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Fare Distribution by Class (Boxplot)</a:t>
            </a:r>
          </a:p>
        </p:txBody>
      </p:sp>
    </p:spTree>
    <p:extLst>
      <p:ext uri="{BB962C8B-B14F-4D97-AF65-F5344CB8AC3E}">
        <p14:creationId xmlns:p14="http://schemas.microsoft.com/office/powerpoint/2010/main" val="389558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920A1-9863-0A75-024C-EA5175DB9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09" y="2061559"/>
            <a:ext cx="4896533" cy="3715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06C109-F6A8-8C12-C31D-347487A1BC1A}"/>
              </a:ext>
            </a:extLst>
          </p:cNvPr>
          <p:cNvSpPr txBox="1"/>
          <p:nvPr/>
        </p:nvSpPr>
        <p:spPr>
          <a:xfrm>
            <a:off x="6363093" y="2388132"/>
            <a:ext cx="56537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Observation: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Port </a:t>
            </a:r>
            <a:r>
              <a:rPr lang="en-US" sz="2000" b="1" dirty="0"/>
              <a:t>C</a:t>
            </a:r>
            <a:r>
              <a:rPr lang="en-US" sz="2000" dirty="0"/>
              <a:t> shows the highest fare variation.</a:t>
            </a:r>
            <a:br>
              <a:rPr lang="en-US" sz="2000" dirty="0"/>
            </a:b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Port </a:t>
            </a:r>
            <a:r>
              <a:rPr lang="en-US" sz="2000" b="1" dirty="0"/>
              <a:t>S</a:t>
            </a:r>
            <a:r>
              <a:rPr lang="en-US" sz="2000" dirty="0"/>
              <a:t> mostly has low-fare passengers.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Port </a:t>
            </a:r>
            <a:r>
              <a:rPr lang="en-US" sz="2000" b="1" dirty="0"/>
              <a:t>Q</a:t>
            </a:r>
            <a:r>
              <a:rPr lang="en-US" sz="2000" dirty="0"/>
              <a:t> has limited variation and mostly low fares.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C2535-C8F8-EAA4-5698-2CCD6BD8D89B}"/>
              </a:ext>
            </a:extLst>
          </p:cNvPr>
          <p:cNvSpPr txBox="1"/>
          <p:nvPr/>
        </p:nvSpPr>
        <p:spPr>
          <a:xfrm>
            <a:off x="509049" y="352660"/>
            <a:ext cx="11340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Fare Distribution by Embarkation Port (Violin Plot)</a:t>
            </a:r>
          </a:p>
        </p:txBody>
      </p:sp>
    </p:spTree>
    <p:extLst>
      <p:ext uri="{BB962C8B-B14F-4D97-AF65-F5344CB8AC3E}">
        <p14:creationId xmlns:p14="http://schemas.microsoft.com/office/powerpoint/2010/main" val="181711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</TotalTime>
  <Words>369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 Thorat</dc:creator>
  <cp:lastModifiedBy>Rushi Thorat</cp:lastModifiedBy>
  <cp:revision>1</cp:revision>
  <dcterms:created xsi:type="dcterms:W3CDTF">2025-12-03T17:55:25Z</dcterms:created>
  <dcterms:modified xsi:type="dcterms:W3CDTF">2025-12-03T18:24:04Z</dcterms:modified>
</cp:coreProperties>
</file>